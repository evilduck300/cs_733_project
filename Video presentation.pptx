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78dd2713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78dd2713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78dd2713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78dd2713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78dd2713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f78dd2713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78dd2713_3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f78dd2713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f78dd2713_3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f78dd2713_3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78dd2713_3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78dd2713_3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78dd2713_3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78dd2713_3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78dd27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78dd27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78dd271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78dd271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78dd2713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78dd2713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f78dd271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f78dd271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78dd2713_3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78dd2713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f78dd2713_3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f78dd2713_3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clanthology.org/2024.findings-emnlp.936/" TargetMode="External"/><Relationship Id="rId4" Type="http://schemas.openxmlformats.org/officeDocument/2006/relationships/hyperlink" Target="https://openreview.net/pdf?id=DRACd7p5ur" TargetMode="External"/><Relationship Id="rId5" Type="http://schemas.openxmlformats.org/officeDocument/2006/relationships/hyperlink" Target="https://proceedings.mlr.press/v264/xie25a.html" TargetMode="External"/><Relationship Id="rId6" Type="http://schemas.openxmlformats.org/officeDocument/2006/relationships/hyperlink" Target="https://aclanthology.org/2024.eacl-long.163/" TargetMode="External"/><Relationship Id="rId7" Type="http://schemas.openxmlformats.org/officeDocument/2006/relationships/hyperlink" Target="https://openreview.net/pdf?id=GrkgKtOja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58900"/>
            <a:ext cx="8520600" cy="24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Multi Model, NLP Generated Instructional Slides For Educational Use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21172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By: Aamr Ibrahim , Nathan Sage , Vinay Chintakayala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13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Input								Critic in the loop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5740600" y="3487375"/>
            <a:ext cx="21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Output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793563" y="2173050"/>
            <a:ext cx="1030800" cy="39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5475925" y="1918050"/>
            <a:ext cx="811200" cy="35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5" y="867554"/>
            <a:ext cx="2617725" cy="3009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1675" y="888125"/>
            <a:ext cx="4918075" cy="36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220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425" y="382025"/>
            <a:ext cx="915425" cy="12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A4C2F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957125"/>
            <a:ext cx="88323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GNN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is broken down into relevant chunks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Paragraphs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sentences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a graph with nodes representing units and edges in relations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capture semantic and structural relationships: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(section order),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(chapter–section),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(embedding similarity or co-reference),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(figure–caption linkage).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edges, Nodes will train the GNN to discriminate highly related and unrelated sections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it Obtains the most pertinent sections for every slide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B6D7A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Model/Generator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4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receives information from User description and GNN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slides based on trained information from its knowledge base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any noisy or unnecessary content that the GNN might have retrieved.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generated slides.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several slide variations that can be compared using the evaluation model.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links from the GNN to be evaluated by the evaluation model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A999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 Module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06529" y="1165529"/>
            <a:ext cx="61812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guarantee readability and clarity, VLMs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 the output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slides' text content as well as their visual arrangement (design, alignment, colors).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inconsistencies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the text and the visualizations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Analyzes the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GNN to ensure data is not hallucinated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scoring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compares multiple presentation versions to select the most effective and coherent one.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6963" y="1989913"/>
            <a:ext cx="28670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9CB9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Critic In The Loop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938999"/>
            <a:ext cx="5992800" cy="42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is presented with 3 generated PowerPoint decks.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selects the best version based on content and presentation quality.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selecting, the system prompts the user with an option to “Regenerate Slide.”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problem is with content: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routes back to the Retrieval (GNN) module to fetch more relevant information.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problem is with writing or design: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routes back to the Generation module for rewriting or reformatting.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user is satisfied: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Proceeds to move forward to the Final Output.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100" y="1325875"/>
            <a:ext cx="3103126" cy="23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endpoints for every stage of the workflow are exposed through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based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 API.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Retrieval, generation, and evaluation are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distinct, independently testable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modules in a modular design.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processing from user input through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retrieval, generation, evaluation, and final output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known as a multi-stage pipeline.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loops: Refinement at various stages is possible with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correction points.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Critic-in-the-loop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Examine the interface to compare iterations, offer comments, and choose the best result.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development: Every component is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created, evaluated, and enhanced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independently of the others.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Inbuilt evaluation stage that checks the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slides before final delivery.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oversight: Reviewers may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view, compare, and give feedback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several slide variants.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development: each component can be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developed, tested, and improved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interference to other components.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GNN/Retrieval Module is responsible for finding the most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parts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PDF before slide generation begins. 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○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by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extracting text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PDF using pdfplumber 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○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the document into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chunks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around 500 words, with a small 3-word overlap to maintain continuity.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model relationships between these chunks, we build a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each chunk becomes a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are created based on how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chunks are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○"/>
            </a:pP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Similarity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sentence transformer embeddings and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overlap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 similarity threshold of 0.5 to filter 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unnecessary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retrieval, we use MiniLM-L6-v2 embeddings to run semantic search. 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description and intended audience, the system </a:t>
            </a:r>
            <a:r>
              <a:rPr b="1"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the 20 most relevant</a:t>
            </a: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chunks</a:t>
            </a:r>
            <a:endParaRPr sz="15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Times New Roman"/>
              <a:buChar char="●"/>
            </a:pPr>
            <a:r>
              <a:rPr lang="en" sz="15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module returns a structured JSON output containing the graph (nodes and edges) along with the most important chunks that will be passed to the slide generation stage.</a:t>
            </a:r>
            <a:endParaRPr sz="15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Generator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94450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Google’s Gemini API (gemini-1.5-pro model)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 high-quality slide drafts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Since the API only allows six calls per session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Fallback system that automatically takes over once the Limit is reached.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>
                <a:solidFill>
                  <a:schemeClr val="dk1"/>
                </a:solidFill>
              </a:rPr>
              <a:t>model generates </a:t>
            </a:r>
            <a:r>
              <a:rPr b="1" lang="en">
                <a:solidFill>
                  <a:schemeClr val="dk1"/>
                </a:solidFill>
              </a:rPr>
              <a:t>three different slide versions</a:t>
            </a:r>
            <a:r>
              <a:rPr lang="en">
                <a:solidFill>
                  <a:schemeClr val="dk1"/>
                </a:solidFill>
              </a:rPr>
              <a:t>, giving users multiple choices to review and select from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Using the structured JSON from the GNN, allows the model to </a:t>
            </a:r>
            <a:r>
              <a:rPr b="1" lang="en">
                <a:solidFill>
                  <a:schemeClr val="dk1"/>
                </a:solidFill>
              </a:rPr>
              <a:t>directly reference</a:t>
            </a:r>
            <a:r>
              <a:rPr lang="en">
                <a:solidFill>
                  <a:schemeClr val="dk1"/>
                </a:solidFill>
              </a:rPr>
              <a:t> the most relevant document chunks.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configure Gemini with a temperature of 0.7 and allow up to 4000 tokens per response to balance creativity and clarity.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the API fails, the fallback module produces </a:t>
            </a:r>
            <a:r>
              <a:rPr b="1" lang="en">
                <a:solidFill>
                  <a:schemeClr val="dk1"/>
                </a:solidFill>
              </a:rPr>
              <a:t>basic slides</a:t>
            </a:r>
            <a:r>
              <a:rPr lang="en">
                <a:solidFill>
                  <a:schemeClr val="dk1"/>
                </a:solidFill>
              </a:rPr>
              <a:t> using only the retrieved content, ensuring there will always be an output.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" sz="1750">
                <a:solidFill>
                  <a:schemeClr val="dk1"/>
                </a:solidFill>
              </a:rPr>
              <a:t>Uses G</a:t>
            </a:r>
            <a:r>
              <a:rPr lang="en" sz="1750">
                <a:solidFill>
                  <a:schemeClr val="dk1"/>
                </a:solidFill>
              </a:rPr>
              <a:t>oogle Gemini API (gemini-1.5-pro model)</a:t>
            </a:r>
            <a:endParaRPr sz="175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API call limit: 6 calls per session (with default evaluation after limit)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Evaluates </a:t>
            </a:r>
            <a:r>
              <a:rPr b="1" lang="en">
                <a:solidFill>
                  <a:schemeClr val="dk1"/>
                </a:solidFill>
              </a:rPr>
              <a:t>4 criteria</a:t>
            </a:r>
            <a:r>
              <a:rPr lang="en">
                <a:solidFill>
                  <a:schemeClr val="dk1"/>
                </a:solidFill>
              </a:rPr>
              <a:t> (0-100 scale):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Clarity</a:t>
            </a:r>
            <a:r>
              <a:rPr lang="en">
                <a:solidFill>
                  <a:schemeClr val="dk1"/>
                </a:solidFill>
              </a:rPr>
              <a:t>: language clarity, structure, organization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Accuracy</a:t>
            </a:r>
            <a:r>
              <a:rPr lang="en">
                <a:solidFill>
                  <a:schemeClr val="dk1"/>
                </a:solidFill>
              </a:rPr>
              <a:t>: factual correctness, source alignment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Visual Balance</a:t>
            </a:r>
            <a:r>
              <a:rPr lang="en">
                <a:solidFill>
                  <a:schemeClr val="dk1"/>
                </a:solidFill>
              </a:rPr>
              <a:t>: content distribution, layout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Audience Fit</a:t>
            </a:r>
            <a:r>
              <a:rPr lang="en">
                <a:solidFill>
                  <a:schemeClr val="dk1"/>
                </a:solidFill>
              </a:rPr>
              <a:t>: language appropriateness, complexity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Provides </a:t>
            </a:r>
            <a:r>
              <a:rPr b="1" lang="en">
                <a:solidFill>
                  <a:schemeClr val="dk1"/>
                </a:solidFill>
              </a:rPr>
              <a:t>feedback</a:t>
            </a:r>
            <a:r>
              <a:rPr lang="en">
                <a:solidFill>
                  <a:schemeClr val="dk1"/>
                </a:solidFill>
              </a:rPr>
              <a:t>, strengths, weaknesses, and recommendations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Temperature: 0.3, max tokens: 2000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Uses a default evaluator when the API unavailable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0" y="358900"/>
            <a:ext cx="8520600" cy="24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https://aclanthology.org/2024.findings-emnlp.936/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VLM SlideEval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https://openreview.net/pdf?id=DRACd7p5ur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Idea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https://proceedings.mlr.press/v264/xie25a.html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Persona (model)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https://aclanthology.org/2024.eacl-long.163/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AI Tool usage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https://openreview.net/pdf?id=GrkgKtOjaH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