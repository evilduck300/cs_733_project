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pPr>
            <a:r>
              <a:t>To some extent, those backdoor</a:t>
            </a:r>
          </a:p>
        </p:txBody>
      </p:sp>
      <p:sp>
        <p:nvSpPr>
          <p:cNvPr id="3" name="Subtitle 2"/>
          <p:cNvSpPr>
            <a:spLocks noGrp="1"/>
          </p:cNvSpPr>
          <p:nvPr>
            <p:ph type="subTitle" idx="1"/>
          </p:nvPr>
        </p:nvSpPr>
        <p:spPr/>
        <p:txBody>
          <a:bodyPr/>
          <a:lstStyle/>
          <a:p>
            <a:pPr>
              <a:defRPr sz="1800"/>
            </a:pPr>
            <a:r>
              <a:t>Audience: Advanced</a:t>
            </a:r>
          </a:p>
          <a:p>
            <a:r>
              <a:t>Based on retrieved content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3200" b="1">
                <a:solidFill>
                  <a:srgbClr val="003366"/>
                </a:solidFill>
              </a:defRPr>
            </a:pPr>
            <a:r>
              <a:t>Slide 1</a:t>
            </a:r>
          </a:p>
        </p:txBody>
      </p:sp>
      <p:sp>
        <p:nvSpPr>
          <p:cNvPr id="3" name="TextBox 2"/>
          <p:cNvSpPr txBox="1"/>
          <p:nvPr/>
        </p:nvSpPr>
        <p:spPr>
          <a:xfrm>
            <a:off x="457200" y="1188720"/>
            <a:ext cx="8229600" cy="5029200"/>
          </a:xfrm>
          <a:prstGeom prst="rect">
            <a:avLst/>
          </a:prstGeom>
          <a:noFill/>
        </p:spPr>
        <p:txBody>
          <a:bodyPr wrap="square">
            <a:spAutoFit/>
          </a:bodyPr>
          <a:lstStyle/>
          <a:p>
            <a:pPr>
              <a:lnSpc>
                <a:spcPct val="120000"/>
              </a:lnSpc>
              <a:spcAft>
                <a:spcPts val="600"/>
              </a:spcAft>
              <a:defRPr sz="1400"/>
            </a:pPr>
            <a:r>
              <a:rPr b="1" sz="1400"/>
              <a:t>• To some extent, those backdoor variants can be viewed as adaptive attacks that are general to backdoor defences.</a:t>
            </a:r>
            <a:r>
              <a:rPr sz="1400"/>
              <a:t> Besides those ﬁve backdoor variants, we identify an adaptive attack that is speciﬁc to STRIP and evaluate it. To expedite evaluations, in the following, we choose the CIFAR10 dataset and 8-layer model as summarized in Table I. A. Trigger Transparency In above experimental studies, the trigger transparency used in the backdoor attacks are set to be 0%. In other words, the trigger is opaque, which facilitates the attacker who can simply print out the trigger and stick it on, for example, a trafﬁc sign. Nonetheless, it is feasible for an attacker to craft a trans- parent trigger, e.g., printing the trigger using a plastic with a certain transparency.</a:t>
            </a:r>
          </a:p>
          <a:p>
            <a:pPr>
              <a:lnSpc>
                <a:spcPct val="120000"/>
              </a:lnSpc>
              <a:spcAft>
                <a:spcPts val="600"/>
              </a:spcAft>
              <a:defRPr sz="1400"/>
            </a:pPr>
          </a:p>
          <a:p>
            <a:pPr>
              <a:lnSpc>
                <a:spcPct val="120000"/>
              </a:lnSpc>
              <a:spcAft>
                <a:spcPts val="600"/>
              </a:spcAft>
              <a:defRPr sz="1400"/>
            </a:pPr>
            <a:r>
              <a:rPr b="1" sz="1400"/>
              <a:t>• To be effective, trojan attacks generally employ unbounded perturbations, when transforming a physical object into a trojan input, to ensure that attacks are robust to physical inﬂuences such as viewpoints, distances and lighting [11].</a:t>
            </a:r>
            <a:r>
              <a:rPr sz="1400"/>
              <a:t> Generally, a trigger is perceptible to humans. Perceptibility to humans is often inconsequential since ML models are usually deployed in autonomous settings without human interference, unless the system ﬂags an exception or alert. Triggers can also be inconspicuous—seen to be natural part of an image, not malicious and disguised in many situations; for example, a pair of sun-glasses on a face or grafﬁti in a visual scene [6], [13], [15].</a:t>
            </a:r>
          </a:p>
          <a:p>
            <a:pPr>
              <a:lnSpc>
                <a:spcPct val="120000"/>
              </a:lnSpc>
              <a:spcAft>
                <a:spcPts val="600"/>
              </a:spcAft>
              <a:defRPr sz="1400"/>
            </a:pPr>
          </a:p>
          <a:p>
            <a:pPr>
              <a:lnSpc>
                <a:spcPct val="120000"/>
              </a:lnSpc>
              <a:spcAft>
                <a:spcPts val="600"/>
              </a:spcAft>
              <a:defRPr sz="1400"/>
            </a:pPr>
            <a:r>
              <a:rPr b="1" sz="1400"/>
              <a:t>• This generation can be paralleled.</a:t>
            </a:r>
            <a:r>
              <a:rPr sz="1400"/>
              <a:t> Moreover, prediction of Nperturbed images can run independently and in parallel, e.g., through Nseparated model replicas. VI. R OBUSTNESS AGAINST BACKDOOR VARIANTS AND ADAPTIVE ATTACKS In line with the Oakland 2019 study [17], we implement ﬁve advanced backdoor attack methods and evaluate the robustness of STRIP against them. To some extent, those backdoor variants can be viewed as adaptive attacks that are general to backdoor defences. Besides those ﬁve backdoor variants, we identify an adaptive attack 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3200" b="1">
                <a:solidFill>
                  <a:srgbClr val="003366"/>
                </a:solidFill>
              </a:defRPr>
            </a:pPr>
            <a:r>
              <a:t>Slide 2</a:t>
            </a:r>
          </a:p>
        </p:txBody>
      </p:sp>
      <p:sp>
        <p:nvSpPr>
          <p:cNvPr id="3" name="TextBox 2"/>
          <p:cNvSpPr txBox="1"/>
          <p:nvPr/>
        </p:nvSpPr>
        <p:spPr>
          <a:xfrm>
            <a:off x="457200" y="1188720"/>
            <a:ext cx="8229600" cy="5029200"/>
          </a:xfrm>
          <a:prstGeom prst="rect">
            <a:avLst/>
          </a:prstGeom>
          <a:noFill/>
        </p:spPr>
        <p:txBody>
          <a:bodyPr wrap="square">
            <a:spAutoFit/>
          </a:bodyPr>
          <a:lstStyle/>
          <a:p>
            <a:pPr>
              <a:lnSpc>
                <a:spcPct val="120000"/>
              </a:lnSpc>
              <a:spcAft>
                <a:spcPts val="600"/>
              </a:spcAft>
              <a:defRPr sz="1400"/>
            </a:pPr>
            <a:r>
              <a:rPr b="1" sz="1400"/>
              <a:t>• 1 2 3 4 5 6 7 8 9 0 10 20 30 40 50 60Probability (%) input digit = 7 0 1 2 3 4 5 6 7 8 9 0 20 40 60Probability (%) input digit = 0 0 1 2 3 4 5 6 7 8 9 0 20 40 60Probability (%) input digit = 3 0 1 2 3 4 5 6 7 8 9 0 20 40 60 80 100Probability (%) input digit = 7 0 1 2 3 4 5 6 7 8 9 0 20 40 60 80 100Probability (%) input digit = 0 0 1 2 3 4 5 6 7 8 9 0 20 40 60 80 100Probability (%) input digit = 3 Figure 5.</a:t>
            </a:r>
            <a:r>
              <a:rPr sz="1400"/>
              <a:t> Predicted digits’ distribution of 1000 perturbed images applied toone given clean/trojaned input image . Inputs of top three sub-ﬁgures are trojan-free. Inputs of bottom sub-ﬁgures are trojaned. The attacker targeted class is 7. IV.</a:t>
            </a:r>
          </a:p>
          <a:p>
            <a:pPr>
              <a:lnSpc>
                <a:spcPct val="120000"/>
              </a:lnSpc>
              <a:spcAft>
                <a:spcPts val="600"/>
              </a:spcAft>
              <a:defRPr sz="1400"/>
            </a:pPr>
          </a:p>
          <a:p>
            <a:pPr>
              <a:lnSpc>
                <a:spcPct val="120000"/>
              </a:lnSpc>
              <a:spcAft>
                <a:spcPts val="600"/>
              </a:spcAft>
              <a:defRPr sz="1400"/>
            </a:pPr>
            <a:r>
              <a:rPr b="1" sz="1400"/>
              <a:t>• , pp.</a:t>
            </a:r>
            <a:r>
              <a:rPr sz="1400"/>
              <a:t> 323–332, 2012. [25] K. He, X. Zhang, S. Ren, and J. Sun, “Deep residual learning for image recognition,” in Proceedings of the IEEE conference on computer vision and pattern recognition , 2016, pp. 770–778. [26] D. Amodei, S. Ananthanarayanan, R. Anubhai, J. Bai, E. Battenberg, C. Case, J. Casper, B. Catanzaro, Q. Cheng, G. Chen et al. , “Deep speech 2: End-to-end speech recognition in english and mandarin,” in International Conference on Machine Learning , 2016, pp. 173–182. [27] Y . Kim, “Convolutional neural networks for sentence classiﬁcation,” arXiv preprint arXiv:1408.5882 , 2014. [28] L. Huang, A. D. Joseph, B. Nelson, B. I. Rubinstein, and J. Tygar, “Ad- versarial machine learning,” in Proceedings of the 4th ACM workshop on Security and artiﬁcial intelligence . ACM, 2011, pp.</a:t>
            </a:r>
          </a:p>
          <a:p>
            <a:pPr>
              <a:lnSpc>
                <a:spcPct val="120000"/>
              </a:lnSpc>
              <a:spcAft>
                <a:spcPts val="600"/>
              </a:spcAft>
              <a:defRPr sz="1400"/>
            </a:pPr>
          </a:p>
          <a:p>
            <a:pPr>
              <a:lnSpc>
                <a:spcPct val="120000"/>
              </a:lnSpc>
              <a:spcAft>
                <a:spcPts val="600"/>
              </a:spcAft>
              <a:defRPr sz="1400"/>
            </a:pPr>
            <a:r>
              <a:rPr b="1" sz="1400"/>
              <a:t>• VI.</a:t>
            </a:r>
            <a:r>
              <a:rPr sz="1400"/>
              <a:t> R OBUSTNESS AGAINST BACKDOOR VARIANTS AND ADAPTIVE ATTACKS In line with the Oakland 2019 study [17], we implement ﬁve advanced backdoor attack methods and evaluate the robustness of STRIP against them. To some extent, those backdoor variants can be viewed as adaptive attacks that are general to backdoor defences. Besides those ﬁve backdoor variants, we identify an adaptive attack that is speciﬁc to STRIP and evaluate it. To expedite evaluations, in the following, we choose the CIFAR10 dataset and 8-layer model as summarized in Table I. 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3200" b="1">
                <a:solidFill>
                  <a:srgbClr val="003366"/>
                </a:solidFill>
              </a:defRPr>
            </a:pPr>
            <a:r>
              <a:t>Slide 3</a:t>
            </a:r>
          </a:p>
        </p:txBody>
      </p:sp>
      <p:sp>
        <p:nvSpPr>
          <p:cNvPr id="3" name="TextBox 2"/>
          <p:cNvSpPr txBox="1"/>
          <p:nvPr/>
        </p:nvSpPr>
        <p:spPr>
          <a:xfrm>
            <a:off x="457200" y="1188720"/>
            <a:ext cx="8229600" cy="5029200"/>
          </a:xfrm>
          <a:prstGeom prst="rect">
            <a:avLst/>
          </a:prstGeom>
          <a:noFill/>
        </p:spPr>
        <p:txBody>
          <a:bodyPr wrap="square">
            <a:spAutoFit/>
          </a:bodyPr>
          <a:lstStyle/>
          <a:p>
            <a:pPr>
              <a:lnSpc>
                <a:spcPct val="120000"/>
              </a:lnSpc>
              <a:spcAft>
                <a:spcPts val="600"/>
              </a:spcAft>
              <a:defRPr sz="1400"/>
            </a:pPr>
            <a:r>
              <a:rPr b="1" sz="1400"/>
              <a:t>• Overall, our STRIP method performs well, even when the transparency is up to 90%; the trigger is almost imperceptible.</a:t>
            </a:r>
            <a:r>
              <a:rPr sz="1400"/>
              <a:t> Speciﬁcally, given a preset of 0.5% FRR, STRIP achieves FAR of 0.10%. Notably, the attack success rate witnesses a (small) deterioration when transparency approaches to 90% while FAR slightly increases to 0.10%. In other words, lowering the chance of being detected by STRIP sacriﬁces an attacker’s success rate. B. Large Trigger We use the Hello Kitty trigger—an attack method reported in [6] and shown in Fig. 1—with the CIFAR10 dataset to further evaluate STRIP insensibility to large triggers. We set the transparency of Hello Kitty to 70% and use 100% overlap with the input image.</a:t>
            </a:r>
          </a:p>
          <a:p>
            <a:pPr>
              <a:lnSpc>
                <a:spcPct val="120000"/>
              </a:lnSpc>
              <a:spcAft>
                <a:spcPts val="600"/>
              </a:spcAft>
              <a:defRPr sz="1400"/>
            </a:pPr>
          </a:p>
          <a:p>
            <a:pPr>
              <a:lnSpc>
                <a:spcPct val="120000"/>
              </a:lnSpc>
              <a:spcAft>
                <a:spcPts val="600"/>
              </a:spcAft>
              <a:defRPr sz="1400"/>
            </a:pPr>
            <a:r>
              <a:rPr b="1" sz="1400"/>
              <a:t>• Table III FAR AND FRR OFSTRIP T ROJAN DETECTION SYSTEM .</a:t>
            </a:r>
            <a:r>
              <a:rPr sz="1400"/>
              <a:t> DatasetTrigger typeN MeanStandard variationFRRDetection boundaryFAR MNISTsquare, Fig. 2100 0:196 0:0743% 0:058 0.75% 2% 0:046 1.1% 1%10:026 1.85% MNISTtrigger a, Fig. 7 (a)100 0:189 0:0712% 0:055 0% 1% 0:0235 0% 0.5% 0:0057 1.5% CIFAR10trigger b, Fig. 7 (b)100 0:97 0:302% 0:36 0% 1% 0:28 0% 0.5% 0:20 0% CIFAR10trigger c, Fig. 7 (c)100 1:11 0:312% 0:46 0% 1% 0:38 0% 0.5% 0:30 0% GTSRBtrigger b, Fig. 7 (b)100 0:53 0:192% 0:133 0% 1% 0:081 0% 0.5% 0:034 0% 1When FRR is set to be 0.05%, the detection boundary value becomes a negative value. Therefore, the FRR given FAR of 0.05% does not make sense, which is not evaluated.</a:t>
            </a:r>
          </a:p>
          <a:p>
            <a:pPr>
              <a:lnSpc>
                <a:spcPct val="120000"/>
              </a:lnSpc>
              <a:spcAft>
                <a:spcPts val="600"/>
              </a:spcAft>
              <a:defRPr sz="1400"/>
            </a:pPr>
          </a:p>
          <a:p>
            <a:pPr>
              <a:lnSpc>
                <a:spcPct val="120000"/>
              </a:lnSpc>
              <a:spcAft>
                <a:spcPts val="600"/>
              </a:spcAft>
              <a:defRPr sz="1400"/>
            </a:pPr>
            <a:r>
              <a:rPr b="1" sz="1400"/>
              <a:t>• In particular, ML models can be trained (e.</a:t>
            </a:r>
            <a:r>
              <a:rPr sz="1400"/>
              <a:t>g., outsourcing) and provided (e.g., pretrained model) by third party. This provides adversaries Y . Gao is with the School of Computer Science and Engineering, Nanjing University of Science and Technology, Nanjing, China and Data61, CSIRO, Sydney, Australia. e-mail: yansong.gao@njust.edu.cn C. Xu, S. Chen, S. Nepal are with Data61, CSIRO, Sydney, Australia. e- mail:fchang.xu; shiping.chen; surya.nepal g@data61.csiro.au. D. Wang is with the School of Information Technology, Deakin University, Burwood and Data61, CSIRO, Australia. e-mail: derekw@deakin.ed...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