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pPr>
            <a:r>
              <a:t>FRR is preset to 0.5%. The detection ca-</a:t>
            </a:r>
          </a:p>
        </p:txBody>
      </p:sp>
      <p:sp>
        <p:nvSpPr>
          <p:cNvPr id="3" name="Subtitle 2"/>
          <p:cNvSpPr>
            <a:spLocks noGrp="1"/>
          </p:cNvSpPr>
          <p:nvPr>
            <p:ph type="subTitle" idx="1"/>
          </p:nvPr>
        </p:nvSpPr>
        <p:spPr/>
        <p:txBody>
          <a:bodyPr/>
          <a:lstStyle/>
          <a:p>
            <a:pPr>
              <a:defRPr sz="1800"/>
            </a:pPr>
            <a:r>
              <a:t>Audience: Advanced</a:t>
            </a:r>
          </a:p>
          <a:p>
            <a:r>
              <a:t>Based on retrieved content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3200" b="1">
                <a:solidFill>
                  <a:srgbClr val="003366"/>
                </a:solidFill>
              </a:defRPr>
            </a:pPr>
            <a:r>
              <a:t>Slide 1</a:t>
            </a:r>
          </a:p>
        </p:txBody>
      </p:sp>
      <p:sp>
        <p:nvSpPr>
          <p:cNvPr id="3" name="TextBox 2"/>
          <p:cNvSpPr txBox="1"/>
          <p:nvPr/>
        </p:nvSpPr>
        <p:spPr>
          <a:xfrm>
            <a:off x="457200" y="1188720"/>
            <a:ext cx="8229600" cy="5029200"/>
          </a:xfrm>
          <a:prstGeom prst="rect">
            <a:avLst/>
          </a:prstGeom>
          <a:noFill/>
        </p:spPr>
        <p:txBody>
          <a:bodyPr wrap="square">
            <a:spAutoFit/>
          </a:bodyPr>
          <a:lstStyle/>
          <a:p>
            <a:pPr>
              <a:lnSpc>
                <a:spcPct val="120000"/>
              </a:lnSpc>
              <a:spcAft>
                <a:spcPts val="600"/>
              </a:spcAft>
              <a:defRPr sz="1400"/>
            </a:pPr>
            <a:r>
              <a:rPr b="1" sz="1400"/>
              <a:t>• FRR is preset to 0.</a:t>
            </a:r>
            <a:r>
              <a:rPr sz="1400"/>
              <a:t>5%. The detection ca- pability increases when the trigger transparency decreases, because the trigger becomes more salient. Overall, our STRIP method performs well, even when the transparency is up to 90%; the trigger is almost imperceptible. Speciﬁcally, given a preset of 0.5% FRR, STRIP achieves FAR of 0.10%. Notably, the attack success rate witnesses a (small) deterioration when transparency approaches to 90% while FAR slightly increases to 0.10%. In other words, lowering the chance of being detected by STRIP sacriﬁces an attacker’s success rate. B. Large Trigger We use the Hello Kitty trigger—an attack method reported in [6] and shown in Fig. 1—with the CIFAR10 dataset to further evaluate STRIP insensibility to large triggers.</a:t>
            </a:r>
          </a:p>
          <a:p>
            <a:pPr>
              <a:lnSpc>
                <a:spcPct val="120000"/>
              </a:lnSpc>
              <a:spcAft>
                <a:spcPts val="600"/>
              </a:spcAft>
              <a:defRPr sz="1400"/>
            </a:pPr>
          </a:p>
          <a:p>
            <a:pPr>
              <a:lnSpc>
                <a:spcPct val="120000"/>
              </a:lnSpc>
              <a:spcAft>
                <a:spcPts val="600"/>
              </a:spcAft>
              <a:defRPr sz="1400"/>
            </a:pPr>
            <a:r>
              <a:rPr b="1" sz="1400"/>
              <a:t>• e- mail:fchang.</a:t>
            </a:r>
            <a:r>
              <a:rPr sz="1400"/>
              <a:t>xu; shiping.chen; surya.nepal g@data61.csiro.au. D. Wang is with the School of Information Technology, Deakin University, Burwood and Data61, CSIRO, Australia. e-mail: derekw@deakin.edu.au. D. C. Ranasinghe is with School of Information Technology, Deakin University, Australia and Data61, CSIRO, Australia. e-mail: derekw@deakin.edu.au. Cite as: Yansong Gao, Change Xu, Derui Wang, Shiping Chen, Damith C. Ranasinghe, and Surya Nepal. 2019. STRIP: A Defence Against Trojan Attacks on Deep Neural Networks. In 2019 Annual Com- puter Security Applications Conference (ACSAC ’19), December 9–13, 2019, San Juan, PR, USA. ACM, New York, NY , USA, 13 pages. https://doi.org/10.1145/3359789.3359790with opportunities to manipulate training data and/or models.</a:t>
            </a:r>
          </a:p>
          <a:p>
            <a:pPr>
              <a:lnSpc>
                <a:spcPct val="120000"/>
              </a:lnSpc>
              <a:spcAft>
                <a:spcPts val="600"/>
              </a:spcAft>
              <a:defRPr sz="1400"/>
            </a:pPr>
          </a:p>
          <a:p>
            <a:pPr>
              <a:lnSpc>
                <a:spcPct val="120000"/>
              </a:lnSpc>
              <a:spcAft>
                <a:spcPts val="600"/>
              </a:spcAft>
              <a:defRPr sz="1400"/>
            </a:pPr>
            <a:r>
              <a:rPr b="1" sz="1400"/>
              <a:t>• However, the safety of ML system deployments has now been recognized as a realistic security concern [4], [5].</a:t>
            </a:r>
            <a:r>
              <a:rPr sz="1400"/>
              <a:t> In particular, ML models can be trained (e.g., outsourcing) and provided (e.g., pretrained model) by third party. This provides adversaries Y . Gao is with the School of Computer Science and Engineering, Nanjing University of Science and Technology, Nanjing, China and Data61, CSIRO, Sydney, Australia. e-mail: yansong.gao@njust.edu.cn C. Xu, S. Chen,...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3200" b="1">
                <a:solidFill>
                  <a:srgbClr val="003366"/>
                </a:solidFill>
              </a:defRPr>
            </a:pPr>
            <a:r>
              <a:t>Slide 2</a:t>
            </a:r>
          </a:p>
        </p:txBody>
      </p:sp>
      <p:sp>
        <p:nvSpPr>
          <p:cNvPr id="3" name="TextBox 2"/>
          <p:cNvSpPr txBox="1"/>
          <p:nvPr/>
        </p:nvSpPr>
        <p:spPr>
          <a:xfrm>
            <a:off x="457200" y="1188720"/>
            <a:ext cx="8229600" cy="5029200"/>
          </a:xfrm>
          <a:prstGeom prst="rect">
            <a:avLst/>
          </a:prstGeom>
          <a:noFill/>
        </p:spPr>
        <p:txBody>
          <a:bodyPr wrap="square">
            <a:spAutoFit/>
          </a:bodyPr>
          <a:lstStyle/>
          <a:p>
            <a:pPr>
              <a:lnSpc>
                <a:spcPct val="120000"/>
              </a:lnSpc>
              <a:spcAft>
                <a:spcPts val="600"/>
              </a:spcAft>
              <a:defRPr sz="1400"/>
            </a:pPr>
            <a:r>
              <a:rPr b="1" sz="1400"/>
              <a:t>• Overall, our STRIP method performs well, even when the transparency is up to 90%; the trigger is almost imperceptible.</a:t>
            </a:r>
            <a:r>
              <a:rPr sz="1400"/>
              <a:t> Speciﬁcally, given a preset of 0.5% FRR, STRIP achieves FAR of 0.10%. Notably, the attack success rate witnesses a (small) deterioration when transparency approaches to 90% while FAR slightly increases to 0.10%. In other words, lowering the chance of being detected by STRIP sacriﬁces an attacker’s success rate. B. Large Trigger We use the Hello Kitty trigger—an attack method reported in [6] and shown in Fig. 1—with the CIFAR10 dataset to further evaluate STRIP insensibility to large triggers. We set the transparency of Hello Kitty to 70% and use 100% overlap with the input image.</a:t>
            </a:r>
          </a:p>
          <a:p>
            <a:pPr>
              <a:lnSpc>
                <a:spcPct val="120000"/>
              </a:lnSpc>
              <a:spcAft>
                <a:spcPts val="600"/>
              </a:spcAft>
              <a:defRPr sz="1400"/>
            </a:pPr>
          </a:p>
          <a:p>
            <a:pPr>
              <a:lnSpc>
                <a:spcPct val="120000"/>
              </a:lnSpc>
              <a:spcAft>
                <a:spcPts val="600"/>
              </a:spcAft>
              <a:defRPr sz="1400"/>
            </a:pPr>
            <a:r>
              <a:rPr b="1" sz="1400"/>
              <a:t>• I NTRODUCTION Machine learning (ML) models are increasingly deployed to make decisions on our behalf on various (mission-critical) tasks such as computer vision, disease diagnosis, ﬁnancial fraud detection, defending against malware and cyber-attacks, access control, surveillance and so on [1]–[3].</a:t>
            </a:r>
            <a:r>
              <a:rPr sz="1400"/>
              <a:t> However, the safety of ML system deployments has now been recognized as a realistic security concern [4], [5]. In particular, ML models can be trained (e.g., outsourcing) and provided (e.g., pretrained model) by third party. This provides adversaries Y . Gao is with the School of Computer Science and Engineering, Nanjing University of Science and Technology, Nanjing, China and Data61, CSIRO, Sydney, Australia. e-mail: yansong.gao@njust.edu.cn C. Xu, S. Chen, S.</a:t>
            </a:r>
          </a:p>
          <a:p>
            <a:pPr>
              <a:lnSpc>
                <a:spcPct val="120000"/>
              </a:lnSpc>
              <a:spcAft>
                <a:spcPts val="600"/>
              </a:spcAft>
              <a:defRPr sz="1400"/>
            </a:pPr>
          </a:p>
          <a:p>
            <a:pPr>
              <a:lnSpc>
                <a:spcPct val="120000"/>
              </a:lnSpc>
              <a:spcAft>
                <a:spcPts val="600"/>
              </a:spcAft>
              <a:defRPr sz="1400"/>
            </a:pPr>
            <a:r>
              <a:rPr b="1" sz="1400"/>
              <a:t>• When training the trojaned model, we act as an attacker and stamp triggers with different transparencies to clean images to craft 3The batch-size is 32.</a:t>
            </a:r>
            <a:r>
              <a:rPr sz="1400"/>
              <a:t>trojaned samples. FRR is preset to 0.5%. The detection ca- pability increases when the trigger transparency decreases, because the trigger becomes more salient. Overall, our STRIP method performs well, even when the transparency is up to 90%; the trigger is almost imperceptible. Speciﬁcally, given a preset of 0.5% FRR, STRIP achieves FAR of 0.10%. Notably, the attac...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3200" b="1">
                <a:solidFill>
                  <a:srgbClr val="003366"/>
                </a:solidFill>
              </a:defRPr>
            </a:pPr>
            <a:r>
              <a:t>Slide 3</a:t>
            </a:r>
          </a:p>
        </p:txBody>
      </p:sp>
      <p:sp>
        <p:nvSpPr>
          <p:cNvPr id="3" name="TextBox 2"/>
          <p:cNvSpPr txBox="1"/>
          <p:nvPr/>
        </p:nvSpPr>
        <p:spPr>
          <a:xfrm>
            <a:off x="457200" y="1188720"/>
            <a:ext cx="8229600" cy="5029200"/>
          </a:xfrm>
          <a:prstGeom prst="rect">
            <a:avLst/>
          </a:prstGeom>
          <a:noFill/>
        </p:spPr>
        <p:txBody>
          <a:bodyPr wrap="square">
            <a:spAutoFit/>
          </a:bodyPr>
          <a:lstStyle/>
          <a:p>
            <a:pPr>
              <a:lnSpc>
                <a:spcPct val="120000"/>
              </a:lnSpc>
              <a:spcAft>
                <a:spcPts val="600"/>
              </a:spcAft>
              <a:defRPr sz="1400"/>
            </a:pPr>
            <a:r>
              <a:rPr b="1" sz="1400"/>
              <a:t>• Xu, S.</a:t>
            </a:r>
            <a:r>
              <a:rPr sz="1400"/>
              <a:t> Chen, S. Nepal are with Data61, CSIRO, Sydney, Australia. e- mail:fchang.xu; shiping.chen; surya.nepal g@data61.csiro.au. D. Wang is with the School of Information Technology, Deakin University, Burwood and Data61, CSIRO, Australia. e-mail: derekw@deakin.edu.au. D. C. Ranasinghe is with School of Information Technology, Deakin University, Australia and Data61, CSIRO, Australia. e-mail: derekw@deakin.edu.au. Cite as: Yansong Gao, Change Xu, Derui Wang, Shiping Chen, Damith C. Ranasinghe, and Surya Nepal. 2019. STRIP: A Defence Against Trojan Attacks on Deep Neural Networks. In 2019 Annual Com- puter Security Applications Conference (ACSAC ’19), December 9–13, 2019, San Juan, PR, USA. ACM, New York, NY , USA, 13 pages. https://doi.org/10.1145/3359789.</a:t>
            </a:r>
          </a:p>
          <a:p>
            <a:pPr>
              <a:lnSpc>
                <a:spcPct val="120000"/>
              </a:lnSpc>
              <a:spcAft>
                <a:spcPts val="600"/>
              </a:spcAft>
              <a:defRPr sz="1400"/>
            </a:pPr>
          </a:p>
          <a:p>
            <a:pPr>
              <a:lnSpc>
                <a:spcPct val="120000"/>
              </a:lnSpc>
              <a:spcAft>
                <a:spcPts val="600"/>
              </a:spcAft>
              <a:defRPr sz="1400"/>
            </a:pPr>
            <a:r>
              <a:rPr b="1" sz="1400"/>
              <a:t>• 1 2 3 4 5 6 7 8 9 0 10 20 30 40 50 60Probability (%) input digit = 7 0 1 2 3 4 5 6 7 8 9 0 20 40 60Probability (%) input digit = 0 0 1 2 3 4 5 6 7 8 9 0 20 40 60Probability (%) input digit = 3 0 1 2 3 4 5 6 7 8 9 0 20 40 60 80 100Probability (%) input digit = 7 0 1 2 3 4 5 6 7 8 9 0 20 40 60 80 100Probability (%) input digit = 0 0 1 2 3 4 5 6 7 8 9 0 20 40 60 80 100Probability (%) input digit = 3 Figure 5.</a:t>
            </a:r>
            <a:r>
              <a:rPr sz="1400"/>
              <a:t> Predicted digits’ distribution of 1000 perturbed images applied toone given clean/trojaned input image . Inputs of top three sub-ﬁgures are trojan-free. Inputs of bottom sub-ﬁgures are trojaned. The attacker targeted class is 7. IV.</a:t>
            </a:r>
          </a:p>
          <a:p>
            <a:pPr>
              <a:lnSpc>
                <a:spcPct val="120000"/>
              </a:lnSpc>
              <a:spcAft>
                <a:spcPts val="600"/>
              </a:spcAft>
              <a:defRPr sz="1400"/>
            </a:pPr>
          </a:p>
          <a:p>
            <a:pPr>
              <a:lnSpc>
                <a:spcPct val="120000"/>
              </a:lnSpc>
              <a:spcAft>
                <a:spcPts val="600"/>
              </a:spcAft>
              <a:defRPr sz="1400"/>
            </a:pPr>
            <a:r>
              <a:rPr b="1" sz="1400"/>
              <a:t>• III.</a:t>
            </a:r>
            <a:r>
              <a:rPr sz="1400"/>
              <a:t> STRIP D ETECTION : ANEXAMPLE This section uses an example to ease the understanding of the principles of the presented STRIP method. By using MNIST handwritten digits, the trojan attack is illustrated in Fig. 2. The trigger is a square (this trigger is identiﬁed in [8], [17]) at the bottom-right corner—noting triggers can also be overlaid with the object as we evaluate in Section V. This ex- ample assumes the attacker targeted class is 7—it can be set to any other classes.</a:t>
            </a:r>
          </a:p>
          <a:p>
            <a:pPr>
              <a:lnSpc>
                <a:spcPct val="120000"/>
              </a:lnSpc>
              <a:spcAft>
                <a:spcPts val="600"/>
              </a:spcAft>
              <a:defRPr sz="1400"/>
            </a:pPr>
          </a:p>
          <a:p>
            <a:pPr>
              <a:lnSpc>
                <a:spcPct val="120000"/>
              </a:lnSpc>
              <a:spcAft>
                <a:spcPts val="600"/>
              </a:spcAft>
              <a:defRPr sz="1400"/>
            </a:pPr>
            <a:r>
              <a:rPr b="1" sz="1400"/>
              <a:t>• On the other hand, given a trojaned input xa i=xi+xawith thexabeing the attacker’s trigger stamp.</a:t>
            </a:r>
            <a:r>
              <a:rPr sz="1400"/>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